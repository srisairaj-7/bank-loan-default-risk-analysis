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7199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Presentation created from the task sheet and numerical results supplied in the conversation. The uploaded image contains the assignment/task list rather than separate graph image files. Tasks 3 and 4 are plotted directly from the supplied values. Tasks 7, 8 and 10 use clean presentation visuals representing the reported conclusions/results; they are not claimed to be the original raw-data 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Presentation created from the task sheet and numerical results supplied in the conversation. The uploaded image contains the assignment/task list rather than separate graph image files. Tasks 3 and 4 are plotted directly from the supplied values. Tasks 7, 8 and 10 use clean presentation visuals representing the reported conclusions/results; they are not claimed to be the original raw-data 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Presentation created from the task sheet and numerical results supplied in the conversation. The uploaded image contains the assignment/task list rather than separate graph image files. Tasks 3 and 4 are plotted directly from the supplied values. Tasks 7, 8 and 10 use clean presentation visuals representing the reported conclusions/results; they are not claimed to be the original raw-data 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Presentation created from the task sheet and numerical results supplied in the conversation. The uploaded image contains the assignment/task list rather than separate graph image files. Tasks 3 and 4 are plotted directly from the supplied values. Tasks 7, 8 and 10 use clean presentation visuals representing the reported conclusions/results; they are not claimed to be the original raw-data 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Presentation created from the task sheet and numerical results supplied in the conversation. The uploaded image contains the assignment/task list rather than separate graph image files. Tasks 3 and 4 are plotted directly from the supplied values. Tasks 7, 8 and 10 use clean presentation visuals representing the reported conclusions/results; they are not claimed to be the original raw-data 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Presentation created from the task sheet and numerical results supplied in the conversation. The uploaded image contains the assignment/task list rather than separate graph image files. Tasks 3 and 4 are plotted directly from the supplied values. Tasks 7, 8 and 10 use clean presentation visuals representing the reported conclusions/results; they are not claimed to be the original raw-data 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Presentation created from the task sheet and numerical results supplied in the conversation. The uploaded image contains the assignment/task list rather than separate graph image files. Tasks 3 and 4 are plotted directly from the supplied values. Tasks 7, 8 and 10 use clean presentation visuals representing the reported conclusions/results; they are not claimed to be the original raw-data 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Presentation created from the task sheet and numerical results supplied in the conversation. The uploaded image contains the assignment/task list rather than separate graph image files. Tasks 3 and 4 are plotted directly from the supplied values. Tasks 7, 8 and 10 use clean presentation visuals representing the reported conclusions/results; they are not claimed to be the original raw-data 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778240" y="822960"/>
            <a:ext cx="2651760" cy="4754880"/>
          </a:xfrm>
          <a:prstGeom prst="round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418320" y="1417320"/>
            <a:ext cx="1828800" cy="3566160"/>
          </a:xfrm>
          <a:prstGeom prst="roundRect">
            <a:avLst/>
          </a:prstGeom>
          <a:solidFill>
            <a:srgbClr val="3F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321040" y="4434840"/>
            <a:ext cx="3017520" cy="1005840"/>
          </a:xfrm>
          <a:prstGeom prst="roundRect">
            <a:avLst/>
          </a:prstGeom>
          <a:solidFill>
            <a:srgbClr val="F2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7589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5F8FA"/>
                </a:solidFill>
              </a:defRPr>
            </a:pPr>
            <a:r>
              <a:t>BANK LOAN</a:t>
            </a:r>
            <a:br/>
            <a:r>
              <a:t>DEFAULT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5BEAE"/>
                </a:solidFill>
              </a:defRPr>
            </a:pPr>
            <a:r>
              <a:t>Fundamental of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676656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CDD8E2"/>
                </a:solidFill>
              </a:defRPr>
            </a:pPr>
            <a:r>
              <a:t>B.TECH ARTIFICIAL INTELLIGENCE AND DATA SCIENCE</a:t>
            </a:r>
          </a:p>
          <a:p>
            <a:pPr>
              <a:spcAft>
                <a:spcPts val="700"/>
              </a:spcAft>
              <a:defRPr sz="1300">
                <a:solidFill>
                  <a:srgbClr val="CDD8E2"/>
                </a:solidFill>
              </a:defRPr>
            </a:pPr>
            <a:r>
              <a:t>2nd Year</a:t>
            </a:r>
          </a:p>
          <a:p>
            <a:pPr>
              <a:spcAft>
                <a:spcPts val="700"/>
              </a:spcAft>
              <a:defRPr sz="1300">
                <a:solidFill>
                  <a:srgbClr val="CDD8E2"/>
                </a:solidFill>
              </a:defRPr>
            </a:pPr>
            <a:r>
              <a:t>SRI VENKATESWARAA COLLEGE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30368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5F8FA"/>
                </a:solidFill>
              </a:defRPr>
            </a:pPr>
            <a:r>
              <a:t>SRI SAI RAJ  •  SRINIVASH M  •  SUPRIYA K M  •  THIRUMURUGAN  •  YUVAN 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96A6B6"/>
                </a:solidFill>
              </a:defRPr>
            </a:pPr>
            <a:r>
              <a:t>BANK LOAN DEFAULT RISK  •  FUNDAMENTAL OF DATA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5BEAE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BEAE"/>
                </a:solidFill>
              </a:defRPr>
            </a:pPr>
            <a:r>
              <a:t>01  • 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A"/>
                </a:solidFill>
              </a:defRPr>
            </a:pPr>
            <a:r>
              <a:t>Project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468880" cy="1234440"/>
          </a:xfrm>
          <a:prstGeom prst="roundRect">
            <a:avLst/>
          </a:prstGeom>
          <a:solidFill>
            <a:srgbClr val="122844"/>
          </a:solidFill>
          <a:ln>
            <a:solidFill>
              <a:srgbClr val="26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64008" cy="1234440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6A6B6"/>
                </a:solidFill>
              </a:defRPr>
            </a:pPr>
            <a:r>
              <a:t>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92808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8FA"/>
                </a:solidFill>
              </a:defRPr>
            </a:pPr>
            <a:r>
              <a:t>148,670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6771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DD8E2"/>
                </a:solidFill>
              </a:defRPr>
            </a:pPr>
            <a:r>
              <a:t>Dataset observations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17320"/>
            <a:ext cx="2468880" cy="1234440"/>
          </a:xfrm>
          <a:prstGeom prst="roundRect">
            <a:avLst/>
          </a:prstGeom>
          <a:solidFill>
            <a:srgbClr val="122844"/>
          </a:solidFill>
          <a:ln>
            <a:solidFill>
              <a:srgbClr val="26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64008" cy="1234440"/>
          </a:xfrm>
          <a:prstGeom prst="rect">
            <a:avLst/>
          </a:prstGeom>
          <a:solidFill>
            <a:srgbClr val="3F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155448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6A6B6"/>
                </a:solidFill>
              </a:defRPr>
            </a:pPr>
            <a:r>
              <a:t>LOAN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892808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8FA"/>
                </a:solidFill>
              </a:defRPr>
            </a:pPr>
            <a:r>
              <a:t>₹49.23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26771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DD8E2"/>
                </a:solidFill>
              </a:defRPr>
            </a:pPr>
            <a:r>
              <a:t>Total disbursed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1417320"/>
            <a:ext cx="2468880" cy="1234440"/>
          </a:xfrm>
          <a:prstGeom prst="roundRect">
            <a:avLst/>
          </a:prstGeom>
          <a:solidFill>
            <a:srgbClr val="122844"/>
          </a:solidFill>
          <a:ln>
            <a:solidFill>
              <a:srgbClr val="26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97880" y="1417320"/>
            <a:ext cx="64008" cy="1234440"/>
          </a:xfrm>
          <a:prstGeom prst="rect">
            <a:avLst/>
          </a:prstGeom>
          <a:solidFill>
            <a:srgbClr val="F2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60" y="155448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6A6B6"/>
                </a:solidFill>
              </a:defRPr>
            </a:pPr>
            <a:r>
              <a:t>DEFAULTED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1892808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8FA"/>
                </a:solidFill>
              </a:defRPr>
            </a:pPr>
            <a:r>
              <a:t>36,639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26771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DD8E2"/>
                </a:solidFill>
              </a:defRPr>
            </a:pPr>
            <a:r>
              <a:t>Status =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1417320"/>
            <a:ext cx="2468880" cy="1234440"/>
          </a:xfrm>
          <a:prstGeom prst="roundRect">
            <a:avLst/>
          </a:prstGeom>
          <a:solidFill>
            <a:srgbClr val="122844"/>
          </a:solidFill>
          <a:ln>
            <a:solidFill>
              <a:srgbClr val="26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49640" y="1417320"/>
            <a:ext cx="64008" cy="1234440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32519" y="155448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6A6B6"/>
                </a:solidFill>
              </a:defRPr>
            </a:pPr>
            <a:r>
              <a:t>CORRELATION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19" y="1892808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8FA"/>
                </a:solidFill>
              </a:defRPr>
            </a:pPr>
            <a:r>
              <a:t>−0.0013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19" y="226771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DD8E2"/>
                </a:solidFill>
              </a:defRPr>
            </a:pPr>
            <a:r>
              <a:t>Credit Score ↔ Interest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063240"/>
            <a:ext cx="6675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DD8E2"/>
                </a:solidFill>
              </a:defRPr>
            </a:pPr>
            <a:r>
              <a:t>• Analyze loan data using core Data Science libraries and statistical techniques.</a:t>
            </a:r>
          </a:p>
          <a:p>
            <a:pPr>
              <a:spcAft>
                <a:spcPts val="800"/>
              </a:spcAft>
              <a:defRPr sz="1600">
                <a:solidFill>
                  <a:srgbClr val="CDD8E2"/>
                </a:solidFill>
              </a:defRPr>
            </a:pPr>
            <a:r>
              <a:t>• Study default patterns, distributions, variability and relationships among variables.</a:t>
            </a:r>
          </a:p>
          <a:p>
            <a:pPr>
              <a:spcAft>
                <a:spcPts val="800"/>
              </a:spcAft>
              <a:defRPr sz="1600">
                <a:solidFill>
                  <a:srgbClr val="CDD8E2"/>
                </a:solidFill>
              </a:defRPr>
            </a:pPr>
            <a:r>
              <a:t>• Use visualization and regression to communicate the findings clearly.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063240"/>
            <a:ext cx="32461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F8FA"/>
                </a:solidFill>
              </a:defRPr>
            </a:pPr>
            <a:r>
              <a:t>01   NumPy</a:t>
            </a:r>
          </a:p>
          <a:p>
            <a:pPr>
              <a:spcAft>
                <a:spcPts val="800"/>
              </a:spcAft>
              <a:defRPr sz="1500" b="1">
                <a:solidFill>
                  <a:srgbClr val="F5F8FA"/>
                </a:solidFill>
              </a:defRPr>
            </a:pPr>
            <a:r>
              <a:t>02   Pandas</a:t>
            </a:r>
          </a:p>
          <a:p>
            <a:pPr>
              <a:spcAft>
                <a:spcPts val="800"/>
              </a:spcAft>
              <a:defRPr sz="1500" b="1">
                <a:solidFill>
                  <a:srgbClr val="F5F8FA"/>
                </a:solidFill>
              </a:defRPr>
            </a:pPr>
            <a:r>
              <a:t>03   Matplotlib</a:t>
            </a:r>
          </a:p>
          <a:p>
            <a:pPr>
              <a:spcAft>
                <a:spcPts val="800"/>
              </a:spcAft>
              <a:defRPr sz="1500" b="1">
                <a:solidFill>
                  <a:srgbClr val="F5F8FA"/>
                </a:solidFill>
              </a:defRPr>
            </a:pPr>
            <a:r>
              <a:t>04   Statistics</a:t>
            </a:r>
          </a:p>
          <a:p>
            <a:pPr>
              <a:spcAft>
                <a:spcPts val="800"/>
              </a:spcAft>
              <a:defRPr sz="1500" b="1">
                <a:solidFill>
                  <a:srgbClr val="F5F8FA"/>
                </a:solidFill>
              </a:defRPr>
            </a:pPr>
            <a:r>
              <a:t>05   Correlation</a:t>
            </a:r>
          </a:p>
          <a:p>
            <a:pPr>
              <a:spcAft>
                <a:spcPts val="800"/>
              </a:spcAft>
              <a:defRPr sz="1500" b="1">
                <a:solidFill>
                  <a:srgbClr val="F5F8FA"/>
                </a:solidFill>
              </a:defRPr>
            </a:pPr>
            <a:r>
              <a:t>06   Regression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96A6B6"/>
                </a:solidFill>
              </a:defRPr>
            </a:pPr>
            <a:r>
              <a:t>BANK LOAN DEFAULT RISK  •  FUNDAMENTAL OF DATA SCIENCE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5BEA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BEAE"/>
                </a:solidFill>
              </a:defRPr>
            </a:pPr>
            <a:r>
              <a:t>02  •  NUMPY + PANDAS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A"/>
                </a:solidFill>
              </a:defRPr>
            </a:pPr>
            <a:r>
              <a:t>Data Preparation &amp;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303520" cy="1325880"/>
          </a:xfrm>
          <a:prstGeom prst="roundRect">
            <a:avLst/>
          </a:prstGeom>
          <a:solidFill>
            <a:srgbClr val="122844"/>
          </a:solidFill>
          <a:ln>
            <a:solidFill>
              <a:srgbClr val="26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1325880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39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6A6B6"/>
                </a:solidFill>
              </a:defRPr>
            </a:pPr>
            <a:r>
              <a:t>TASK 1  •  TOTAL LOAN AMOUNT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4983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8FA"/>
                </a:solidFill>
              </a:defRPr>
            </a:pPr>
            <a:r>
              <a:t>₹49,227,275,000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67712"/>
            <a:ext cx="4983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DD8E2"/>
                </a:solidFill>
              </a:defRPr>
            </a:pPr>
            <a:r>
              <a:t>loan_amount converted to NumPy array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303520" cy="1325880"/>
          </a:xfrm>
          <a:prstGeom prst="roundRect">
            <a:avLst/>
          </a:prstGeom>
          <a:solidFill>
            <a:srgbClr val="122844"/>
          </a:solidFill>
          <a:ln>
            <a:solidFill>
              <a:srgbClr val="26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64008" cy="1325880"/>
          </a:xfrm>
          <a:prstGeom prst="rect">
            <a:avLst/>
          </a:prstGeom>
          <a:solidFill>
            <a:srgbClr val="3F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463039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6A6B6"/>
                </a:solidFill>
              </a:defRPr>
            </a:pPr>
            <a:r>
              <a:t>TASK 2  •  DEFAULTED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01368"/>
            <a:ext cx="4983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8FA"/>
                </a:solidFill>
              </a:defRPr>
            </a:pPr>
            <a:r>
              <a:t>36,639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67712"/>
            <a:ext cx="4983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DD8E2"/>
                </a:solidFill>
              </a:defRPr>
            </a:pPr>
            <a:r>
              <a:t>Credit_Score filtered where Status =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63240"/>
            <a:ext cx="5166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DD8E2"/>
                </a:solidFill>
              </a:defRPr>
            </a:pPr>
            <a:r>
              <a:t>• NumPy enables fast numerical operations on the loan_amount column.</a:t>
            </a:r>
          </a:p>
          <a:p>
            <a:pPr>
              <a:spcAft>
                <a:spcPts val="800"/>
              </a:spcAft>
              <a:defRPr sz="1500">
                <a:solidFill>
                  <a:srgbClr val="CDD8E2"/>
                </a:solidFill>
              </a:defRPr>
            </a:pPr>
            <a:r>
              <a:t>• The total confirms more than ₹49 billion in loans across the dataset.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063240"/>
            <a:ext cx="5166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DD8E2"/>
                </a:solidFill>
              </a:defRPr>
            </a:pPr>
            <a:r>
              <a:t>• Pandas filtering isolates the defaulter group for separate analysis.</a:t>
            </a:r>
          </a:p>
          <a:p>
            <a:pPr>
              <a:spcAft>
                <a:spcPts val="800"/>
              </a:spcAft>
              <a:defRPr sz="1500">
                <a:solidFill>
                  <a:srgbClr val="CDD8E2"/>
                </a:solidFill>
              </a:defRPr>
            </a:pPr>
            <a:r>
              <a:t>• This creates a focused view of credit-score behavior among defaults.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96A6B6"/>
                </a:solidFill>
              </a:defRPr>
            </a:pPr>
            <a:r>
              <a:t>BANK LOAN DEFAULT RISK  •  FUNDAMENTAL OF DATA SCIENCE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5BEA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BEAE"/>
                </a:solidFill>
              </a:defRPr>
            </a:pPr>
            <a:r>
              <a:t>03  •  MATPLOTLIB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A"/>
                </a:solidFill>
              </a:defRPr>
            </a:pPr>
            <a:r>
              <a:t>Visualization of Default &amp; Loan Purpose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417320"/>
            <a:ext cx="5212080" cy="3017520"/>
          </a:xfrm>
          <a:prstGeom prst="rect">
            <a:avLst/>
          </a:prstGeom>
        </p:spPr>
      </p:pic>
      <p:pic>
        <p:nvPicPr>
          <p:cNvPr id="6" name="Picture 5" descr="task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17320"/>
            <a:ext cx="548640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709160"/>
            <a:ext cx="52120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5F8FA"/>
                </a:solidFill>
              </a:defRPr>
            </a:pPr>
            <a:r>
              <a:t>Task 3 — Defaulted vs non-defaulted scores are almost identical.</a:t>
            </a:r>
          </a:p>
          <a:p>
            <a:pPr>
              <a:defRPr sz="1000">
                <a:solidFill>
                  <a:srgbClr val="CDD8E2"/>
                </a:solidFill>
              </a:defRPr>
            </a:pPr>
            <a:r>
              <a:t>699.5 vs 700.6 → credit score alone does not strongly separate the groups.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4709160"/>
            <a:ext cx="52120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5F8FA"/>
                </a:solidFill>
              </a:defRPr>
            </a:pPr>
            <a:r>
              <a:t>Task 4 — Loan demand is concentrated in p3 and p4.</a:t>
            </a:r>
          </a:p>
          <a:p>
            <a:pPr>
              <a:defRPr sz="1000">
                <a:solidFill>
                  <a:srgbClr val="CDD8E2"/>
                </a:solidFill>
              </a:defRPr>
            </a:pPr>
            <a:r>
              <a:t>p3: 55,934  •  p4: 54,799  •  p1: 34,529  •  p2: 3,274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96A6B6"/>
                </a:solidFill>
              </a:defRPr>
            </a:pPr>
            <a:r>
              <a:t>BANK LOAN DEFAULT RISK  •  FUNDAMENTAL OF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5BEA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BEAE"/>
                </a:solidFill>
              </a:defRPr>
            </a:pPr>
            <a:r>
              <a:t>04  • 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A"/>
                </a:solidFill>
              </a:defRPr>
            </a:pPr>
            <a:r>
              <a:t>Central Tendency &amp; Variability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383280" cy="1417320"/>
          </a:xfrm>
          <a:prstGeom prst="roundRect">
            <a:avLst/>
          </a:prstGeom>
          <a:solidFill>
            <a:srgbClr val="122844"/>
          </a:solidFill>
          <a:ln>
            <a:solidFill>
              <a:srgbClr val="26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64008" cy="1417320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6A6B6"/>
                </a:solidFill>
              </a:defRPr>
            </a:pPr>
            <a:r>
              <a:t>TASK 5  •  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92808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8FA"/>
                </a:solidFill>
              </a:defRPr>
            </a:pPr>
            <a:r>
              <a:t>4.05%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50592"/>
            <a:ext cx="3063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DD8E2"/>
                </a:solidFill>
              </a:defRPr>
            </a:pPr>
            <a:r>
              <a:t>Average rate of interest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383280" cy="1417320"/>
          </a:xfrm>
          <a:prstGeom prst="roundRect">
            <a:avLst/>
          </a:prstGeom>
          <a:solidFill>
            <a:srgbClr val="122844"/>
          </a:solidFill>
          <a:ln>
            <a:solidFill>
              <a:srgbClr val="26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64008" cy="1417320"/>
          </a:xfrm>
          <a:prstGeom prst="rect">
            <a:avLst/>
          </a:prstGeom>
          <a:solidFill>
            <a:srgbClr val="3F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6A6B6"/>
                </a:solidFill>
              </a:defRPr>
            </a:pPr>
            <a:r>
              <a:t>TASK 5  •  MEDIAN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92808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8FA"/>
                </a:solidFill>
              </a:defRPr>
            </a:pPr>
            <a:r>
              <a:t>3.99%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50592"/>
            <a:ext cx="3063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DD8E2"/>
                </a:solidFill>
              </a:defRPr>
            </a:pPr>
            <a:r>
              <a:t>Middle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383280" cy="1417320"/>
          </a:xfrm>
          <a:prstGeom prst="roundRect">
            <a:avLst/>
          </a:prstGeom>
          <a:solidFill>
            <a:srgbClr val="122844"/>
          </a:solidFill>
          <a:ln>
            <a:solidFill>
              <a:srgbClr val="26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64008" cy="1417320"/>
          </a:xfrm>
          <a:prstGeom prst="rect">
            <a:avLst/>
          </a:prstGeom>
          <a:solidFill>
            <a:srgbClr val="F2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19" y="155448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6A6B6"/>
                </a:solidFill>
              </a:defRPr>
            </a:pPr>
            <a:r>
              <a:t>TASK 6  •  STD. DEVIATION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1892808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8FA"/>
                </a:solidFill>
              </a:defRPr>
            </a:pPr>
            <a:r>
              <a:t>115.88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450592"/>
            <a:ext cx="3063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DD8E2"/>
                </a:solidFill>
              </a:defRPr>
            </a:pPr>
            <a:r>
              <a:t>Credit Score variability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29000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DD8E2"/>
                </a:solidFill>
              </a:defRPr>
            </a:pPr>
            <a:r>
              <a:t>• Mean and median are very close, indicating that the interest-rate distribution is not strongly shifted by extreme values.</a:t>
            </a:r>
          </a:p>
          <a:p>
            <a:pPr>
              <a:spcAft>
                <a:spcPts val="800"/>
              </a:spcAft>
              <a:defRPr sz="1700">
                <a:solidFill>
                  <a:srgbClr val="CDD8E2"/>
                </a:solidFill>
              </a:defRPr>
            </a:pPr>
            <a:r>
              <a:t>• A credit-score standard deviation of about 115.88 shows substantial spread across customers.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532120"/>
            <a:ext cx="10058400" cy="54864"/>
          </a:xfrm>
          <a:prstGeom prst="rect">
            <a:avLst/>
          </a:prstGeom>
          <a:solidFill>
            <a:srgbClr val="415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383280" y="5376672"/>
            <a:ext cx="292608" cy="292608"/>
          </a:xfrm>
          <a:prstGeom prst="ellipse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71800" y="568756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CDD8E2"/>
                </a:solidFill>
              </a:defRPr>
            </a:pPr>
            <a:r>
              <a:t>Mean 4.05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5376672"/>
            <a:ext cx="292608" cy="292608"/>
          </a:xfrm>
          <a:prstGeom prst="ellipse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89320" y="568756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CDD8E2"/>
                </a:solidFill>
              </a:defRPr>
            </a:pPr>
            <a:r>
              <a:t>Median 3.99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96A6B6"/>
                </a:solidFill>
              </a:defRPr>
            </a:pPr>
            <a:r>
              <a:t>BANK LOAN DEFAULT RISK  •  FUNDAMENTAL OF DATA SCIENCE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5BEA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BEAE"/>
                </a:solidFill>
              </a:defRPr>
            </a:pPr>
            <a:r>
              <a:t>05  •  VISUAL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A"/>
                </a:solidFill>
              </a:defRPr>
            </a:pPr>
            <a:r>
              <a:t>Distribution &amp; Relationship Analysis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325880"/>
            <a:ext cx="5059681" cy="30632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46520" y="1325880"/>
            <a:ext cx="5212080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617720"/>
            <a:ext cx="52578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A"/>
                </a:solidFill>
              </a:defRPr>
            </a:pPr>
            <a:r>
              <a:t>Task 7 — Normal curve</a:t>
            </a:r>
          </a:p>
          <a:p>
            <a:pPr>
              <a:defRPr sz="1000">
                <a:solidFill>
                  <a:srgbClr val="CDD8E2"/>
                </a:solidFill>
              </a:defRPr>
            </a:pPr>
            <a:r>
              <a:t>The reported analysis indicates a roughly bell-shaped interest-rate distribution around the mean.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4617720"/>
            <a:ext cx="52578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A"/>
                </a:solidFill>
              </a:defRPr>
            </a:pPr>
            <a:r>
              <a:t>Task 8 — Scatter plot</a:t>
            </a:r>
          </a:p>
          <a:p>
            <a:pPr>
              <a:defRPr sz="1000">
                <a:solidFill>
                  <a:srgbClr val="CDD8E2"/>
                </a:solidFill>
              </a:defRPr>
            </a:pPr>
            <a:r>
              <a:t>The reported points show no clear trend between Credit Score and rate of interest.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96A6B6"/>
                </a:solidFill>
              </a:defRPr>
            </a:pPr>
            <a:r>
              <a:t>BANK LOAN DEFAULT RISK  •  FUNDAMENTAL OF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5BEA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BEAE"/>
                </a:solidFill>
              </a:defRPr>
            </a:pPr>
            <a:r>
              <a:t>06  •  PREDICTIVE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A"/>
                </a:solidFill>
              </a:defRPr>
            </a:pPr>
            <a:r>
              <a:t>Correlation &amp; Regression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5080" y="1325880"/>
            <a:ext cx="5151120" cy="3063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417320"/>
            <a:ext cx="5029200" cy="1371600"/>
          </a:xfrm>
          <a:prstGeom prst="roundRect">
            <a:avLst/>
          </a:prstGeom>
          <a:solidFill>
            <a:srgbClr val="122844"/>
          </a:solidFill>
          <a:ln>
            <a:solidFill>
              <a:srgbClr val="26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4008" cy="1371600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4709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6A6B6"/>
                </a:solidFill>
              </a:defRPr>
            </a:pPr>
            <a:r>
              <a:t>TASK 9  •  CORRELATION COEFFICIENT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92808"/>
            <a:ext cx="4709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8FA"/>
                </a:solidFill>
              </a:defRPr>
            </a:pPr>
            <a:r>
              <a:t>−0.0013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04872"/>
            <a:ext cx="4709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DD8E2"/>
                </a:solidFill>
              </a:defRPr>
            </a:pPr>
            <a:r>
              <a:t>Practically no linear relationship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DD8E2"/>
                </a:solidFill>
              </a:defRPr>
            </a:pPr>
            <a:r>
              <a:t>• A coefficient this close to zero confirms that Credit Score and interest rate have almost no linear association in this dataset.</a:t>
            </a:r>
          </a:p>
          <a:p>
            <a:pPr>
              <a:spcAft>
                <a:spcPts val="800"/>
              </a:spcAft>
              <a:defRPr sz="1400">
                <a:solidFill>
                  <a:srgbClr val="CDD8E2"/>
                </a:solidFill>
              </a:defRPr>
            </a:pPr>
            <a:r>
              <a:t>• Task 10 uses linear regression to estimate interest rate from Credit Score.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617720"/>
            <a:ext cx="50749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A"/>
                </a:solidFill>
              </a:defRPr>
            </a:pPr>
            <a:r>
              <a:t>Reported prediction: Credit Score 750 → 4.05%</a:t>
            </a:r>
          </a:p>
          <a:p>
            <a:pPr>
              <a:defRPr sz="1000">
                <a:solidFill>
                  <a:srgbClr val="CDD8E2"/>
                </a:solidFill>
              </a:defRPr>
            </a:pPr>
            <a:r>
              <a:t>The near-flat relationship keeps the prediction close to the overall average 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96A6B6"/>
                </a:solidFill>
              </a:defRPr>
            </a:pPr>
            <a:r>
              <a:t>BANK LOAN DEFAULT RISK  •  FUNDAMENTAL OF DATA 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5BEA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BEAE"/>
                </a:solidFill>
              </a:defRPr>
            </a:pPr>
            <a:r>
              <a:t>07  • 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A"/>
                </a:solidFill>
              </a:defRPr>
            </a:pPr>
            <a:r>
              <a:t>Key Findings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383280" cy="1417320"/>
          </a:xfrm>
          <a:prstGeom prst="roundRect">
            <a:avLst/>
          </a:prstGeom>
          <a:solidFill>
            <a:srgbClr val="122844"/>
          </a:solidFill>
          <a:ln>
            <a:solidFill>
              <a:srgbClr val="26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64008" cy="1417320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6A6B6"/>
                </a:solidFill>
              </a:defRPr>
            </a:pPr>
            <a:r>
              <a:t>LOAN 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92808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8FA"/>
                </a:solidFill>
              </a:defRPr>
            </a:pPr>
            <a:r>
              <a:t>₹49.23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50592"/>
            <a:ext cx="3063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DD8E2"/>
                </a:solidFill>
              </a:defRPr>
            </a:pPr>
            <a:r>
              <a:t>Across 148,670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383280" cy="1417320"/>
          </a:xfrm>
          <a:prstGeom prst="roundRect">
            <a:avLst/>
          </a:prstGeom>
          <a:solidFill>
            <a:srgbClr val="122844"/>
          </a:solidFill>
          <a:ln>
            <a:solidFill>
              <a:srgbClr val="26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64008" cy="1417320"/>
          </a:xfrm>
          <a:prstGeom prst="rect">
            <a:avLst/>
          </a:prstGeom>
          <a:solidFill>
            <a:srgbClr val="3F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6A6B6"/>
                </a:solidFill>
              </a:defRPr>
            </a:pPr>
            <a:r>
              <a:t>DEFAULT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92808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8FA"/>
                </a:solidFill>
              </a:defRPr>
            </a:pPr>
            <a:r>
              <a:t>~700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50592"/>
            <a:ext cx="3063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DD8E2"/>
                </a:solidFill>
              </a:defRPr>
            </a:pPr>
            <a:r>
              <a:t>Defaulted average ≈ 700.6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383280" cy="1417320"/>
          </a:xfrm>
          <a:prstGeom prst="roundRect">
            <a:avLst/>
          </a:prstGeom>
          <a:solidFill>
            <a:srgbClr val="122844"/>
          </a:solidFill>
          <a:ln>
            <a:solidFill>
              <a:srgbClr val="26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64008" cy="1417320"/>
          </a:xfrm>
          <a:prstGeom prst="rect">
            <a:avLst/>
          </a:prstGeom>
          <a:solidFill>
            <a:srgbClr val="F2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19" y="155448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6A6B6"/>
                </a:solidFill>
              </a:defRPr>
            </a:pPr>
            <a:r>
              <a:t>LINEAR 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1892808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8FA"/>
                </a:solidFill>
              </a:defRPr>
            </a:pPr>
            <a:r>
              <a:t>−0.0013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450592"/>
            <a:ext cx="3063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DD8E2"/>
                </a:solidFill>
              </a:defRPr>
            </a:pPr>
            <a:r>
              <a:t>Credit Score ↔ interest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429000"/>
            <a:ext cx="10789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DD8E2"/>
                </a:solidFill>
              </a:defRPr>
            </a:pPr>
            <a:r>
              <a:t>• The dataset contains a large volume of loan records with substantial total disbursement.</a:t>
            </a:r>
          </a:p>
          <a:p>
            <a:pPr>
              <a:spcAft>
                <a:spcPts val="800"/>
              </a:spcAft>
              <a:defRPr sz="1600">
                <a:solidFill>
                  <a:srgbClr val="CDD8E2"/>
                </a:solidFill>
              </a:defRPr>
            </a:pPr>
            <a:r>
              <a:t>• Defaulted and non-defaulted customers have very similar average credit scores.</a:t>
            </a:r>
          </a:p>
          <a:p>
            <a:pPr>
              <a:spcAft>
                <a:spcPts val="800"/>
              </a:spcAft>
              <a:defRPr sz="1600">
                <a:solidFill>
                  <a:srgbClr val="CDD8E2"/>
                </a:solidFill>
              </a:defRPr>
            </a:pPr>
            <a:r>
              <a:t>• Interest rates show a roughly central distribution, while Credit Score has considerable variability.</a:t>
            </a:r>
          </a:p>
          <a:p>
            <a:pPr>
              <a:spcAft>
                <a:spcPts val="800"/>
              </a:spcAft>
              <a:defRPr sz="1600">
                <a:solidFill>
                  <a:srgbClr val="CDD8E2"/>
                </a:solidFill>
              </a:defRPr>
            </a:pPr>
            <a:r>
              <a:t>• Correlation and regression indicate that Credit Score alone provides very little information for predicting interest rate in this dataset.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1500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BEAE"/>
                </a:solidFill>
              </a:defRPr>
            </a:pPr>
            <a: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96A6B6"/>
                </a:solidFill>
              </a:defRPr>
            </a:pPr>
            <a:r>
              <a:t>BANK LOAN DEFAULT RISK  •  FUNDAMENTAL OF DATA SCIENCE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5BEAE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1202</Words>
  <Application>Microsoft Office PowerPoint</Application>
  <PresentationFormat>Widescreen</PresentationFormat>
  <Paragraphs>117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 Sai Raj</dc:creator>
  <cp:keywords/>
  <dc:description>generated using python-pptx</dc:description>
  <cp:lastModifiedBy>Sri Sai Raj</cp:lastModifiedBy>
  <cp:revision>4</cp:revision>
  <dcterms:created xsi:type="dcterms:W3CDTF">2013-01-27T09:14:16Z</dcterms:created>
  <dcterms:modified xsi:type="dcterms:W3CDTF">2026-10-01T04:30:14Z</dcterms:modified>
  <cp:category/>
</cp:coreProperties>
</file>